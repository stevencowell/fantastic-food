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22e505c8abf04461" /><Relationship Type="http://schemas.openxmlformats.org/officeDocument/2006/relationships/extended-properties" Target="/docProps/app.xml" Id="R86f9bfb2b2e947d9" /><Relationship Type="http://schemas.openxmlformats.org/officeDocument/2006/relationships/officeDocument" Target="/ppt/presentation.xml" Id="Rf62c65f0c7ed456f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41bc7a9346b74e27"/>
  </p:sldMasterIdLst>
  <p:notesMasterIdLst>
    <p:notesMasterId xmlns:r="http://schemas.openxmlformats.org/officeDocument/2006/relationships" r:id="R678d7bbd59654789"/>
  </p:notesMasterIdLst>
  <p:sldIdLst>
    <p:sldId xmlns:r="http://schemas.openxmlformats.org/officeDocument/2006/relationships" id="256" r:id="Rf8d1f617b49d4898"/>
    <p:sldId xmlns:r="http://schemas.openxmlformats.org/officeDocument/2006/relationships" id="257" r:id="R5d44f77d8032462e"/>
    <p:sldId xmlns:r="http://schemas.openxmlformats.org/officeDocument/2006/relationships" id="258" r:id="R31b8d77032054854"/>
    <p:sldId xmlns:r="http://schemas.openxmlformats.org/officeDocument/2006/relationships" id="259" r:id="Ra20828c6a27e4146"/>
    <p:sldId xmlns:r="http://schemas.openxmlformats.org/officeDocument/2006/relationships" id="260" r:id="R419f0516291e4fdf"/>
    <p:sldId xmlns:r="http://schemas.openxmlformats.org/officeDocument/2006/relationships" id="261" r:id="R4001998174254c0d"/>
    <p:sldId xmlns:r="http://schemas.openxmlformats.org/officeDocument/2006/relationships" id="262" r:id="R11f7bf5ef7ed4b53"/>
    <p:sldId xmlns:r="http://schemas.openxmlformats.org/officeDocument/2006/relationships" id="263" r:id="Rc604476c81e54367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ab2f8d58988043ad" /><Relationship Type="http://schemas.openxmlformats.org/officeDocument/2006/relationships/slideMaster" Target="/ppt/slideMasters/slideMaster1.xml" Id="R41bc7a9346b74e27" /><Relationship Type="http://schemas.openxmlformats.org/officeDocument/2006/relationships/notesMaster" Target="/ppt/notesMasters/notesMaster1.xml" Id="R678d7bbd59654789" /><Relationship Type="http://schemas.openxmlformats.org/officeDocument/2006/relationships/presProps" Target="/ppt/presProps.xml" Id="R6237932b599d4182" /><Relationship Type="http://schemas.openxmlformats.org/officeDocument/2006/relationships/tableStyles" Target="/ppt/tableStyles.xml" Id="Ra54eb9bebe5a4db6" /><Relationship Type="http://schemas.openxmlformats.org/officeDocument/2006/relationships/slide" Target="/ppt/slides/slide1.xml" Id="Rf8d1f617b49d4898" /><Relationship Type="http://schemas.openxmlformats.org/officeDocument/2006/relationships/slide" Target="/ppt/slides/slide2.xml" Id="R5d44f77d8032462e" /><Relationship Type="http://schemas.openxmlformats.org/officeDocument/2006/relationships/slide" Target="/ppt/slides/slide3.xml" Id="R31b8d77032054854" /><Relationship Type="http://schemas.openxmlformats.org/officeDocument/2006/relationships/slide" Target="/ppt/slides/slide4.xml" Id="Ra20828c6a27e4146" /><Relationship Type="http://schemas.openxmlformats.org/officeDocument/2006/relationships/slide" Target="/ppt/slides/slide5.xml" Id="R419f0516291e4fdf" /><Relationship Type="http://schemas.openxmlformats.org/officeDocument/2006/relationships/slide" Target="/ppt/slides/slide6.xml" Id="R4001998174254c0d" /><Relationship Type="http://schemas.openxmlformats.org/officeDocument/2006/relationships/slide" Target="/ppt/slides/slide7.xml" Id="R11f7bf5ef7ed4b53" /><Relationship Type="http://schemas.openxmlformats.org/officeDocument/2006/relationships/slide" Target="/ppt/slides/slide8.xml" Id="Rc604476c81e54367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2139c85bcedd4a21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8737604ed0304d77" /><Relationship Type="http://schemas.openxmlformats.org/officeDocument/2006/relationships/notesMaster" Target="/ppt/notesMasters/notesMaster1.xml" Id="Rc0e810b4f9b24c74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91e0fe663c4146cb" /><Relationship Type="http://schemas.openxmlformats.org/officeDocument/2006/relationships/notesMaster" Target="/ppt/notesMasters/notesMaster1.xml" Id="R41def5766b684bb5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5e9f7c51404a4256" /><Relationship Type="http://schemas.openxmlformats.org/officeDocument/2006/relationships/notesMaster" Target="/ppt/notesMasters/notesMaster1.xml" Id="Rf680554557bf4dcc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287cad49418640b3" /><Relationship Type="http://schemas.openxmlformats.org/officeDocument/2006/relationships/notesMaster" Target="/ppt/notesMasters/notesMaster1.xml" Id="Re839bb0de2f94cc1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3e8cc9be39bd405c" /><Relationship Type="http://schemas.openxmlformats.org/officeDocument/2006/relationships/notesMaster" Target="/ppt/notesMasters/notesMaster1.xml" Id="R0519778f9e1c4a4d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394cccd677854482" /><Relationship Type="http://schemas.openxmlformats.org/officeDocument/2006/relationships/notesMaster" Target="/ppt/notesMasters/notesMaster1.xml" Id="Ra373e8be02914dbc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1e03b85e787e4426" /><Relationship Type="http://schemas.openxmlformats.org/officeDocument/2006/relationships/notesMaster" Target="/ppt/notesMasters/notesMaster1.xml" Id="R220f2318fac44ff0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7a256513acb94b55" /><Relationship Type="http://schemas.openxmlformats.org/officeDocument/2006/relationships/notesMaster" Target="/ppt/notesMasters/notesMaster1.xml" Id="R68dcf2402df14e81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Teacher cue: use this slide to teach Module 1 content, then pause for the student prompt.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PROG-2024: authorised Fantastic Food course source.</a:t>
            </a:r>
          </a:p>
          <a:p xmlns:a="http://schemas.openxmlformats.org/drawingml/2006/main">
            <a:r>
              <a:t>- BOOK-2023-STUDENT: authorised Fantastic Food course source.</a:t>
            </a:r>
          </a:p>
          <a:p xmlns:a="http://schemas.openxmlformats.org/drawingml/2006/main">
            <a:r>
              <a:t>- MODULE-1-GENERATED-VISUAL: project-specific generated teaching visual, local course asset.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Teacher cue: use this slide to teach Module 1 content, then pause for the student prompt.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PROG-2024: authorised Fantastic Food course source.</a:t>
            </a:r>
          </a:p>
          <a:p xmlns:a="http://schemas.openxmlformats.org/drawingml/2006/main">
            <a:r>
              <a:t>- BOOK-2023-STUDENT: authorised Fantastic Food course source.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Teacher cue: use this slide to teach Module 1 content, then pause for the student prompt.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PROG-2024: authorised Fantastic Food course source.</a:t>
            </a:r>
          </a:p>
          <a:p xmlns:a="http://schemas.openxmlformats.org/drawingml/2006/main">
            <a:r>
              <a:t>- BOOK-2023-STUDENT: authorised Fantastic Food course source.</a:t>
            </a:r>
          </a:p>
          <a:p xmlns:a="http://schemas.openxmlformats.org/drawingml/2006/main">
            <a:r>
              <a:t>- MODULE-1-GENERATED-VISUAL: project-specific generated teaching visual, local course asset.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Teacher cue: use this slide to teach Module 1 content, then pause for the student prompt.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PROG-2024: authorised Fantastic Food course source.</a:t>
            </a:r>
          </a:p>
          <a:p xmlns:a="http://schemas.openxmlformats.org/drawingml/2006/main">
            <a:r>
              <a:t>- BOOK-2023-STUDENT: authorised Fantastic Food course source.</a:t>
            </a:r>
          </a:p>
          <a:p xmlns:a="http://schemas.openxmlformats.org/drawingml/2006/main">
            <a:r>
              <a:t>- MODULE-1-GENERATED-VISUAL: project-specific generated teaching visual, local course asset.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Teacher cue: use this slide to teach Module 1 content, then pause for the student prompt.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PROG-2024: authorised Fantastic Food course source.</a:t>
            </a:r>
          </a:p>
          <a:p xmlns:a="http://schemas.openxmlformats.org/drawingml/2006/main">
            <a:r>
              <a:t>- BOOK-2023-STUDENT: authorised Fantastic Food course source.</a:t>
            </a:r>
          </a:p>
          <a:p xmlns:a="http://schemas.openxmlformats.org/drawingml/2006/main">
            <a:r>
              <a:t>- MODULE-1-GENERATED-VISUAL: project-specific generated teaching visual, local course asset.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Teacher cue: use this slide to teach Module 1 content, then pause for the student prompt.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PROG-2024: authorised Fantastic Food course source.</a:t>
            </a:r>
          </a:p>
          <a:p xmlns:a="http://schemas.openxmlformats.org/drawingml/2006/main">
            <a:r>
              <a:t>- BOOK-2023-STUDENT: authorised Fantastic Food course source.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Teacher cue: use this slide to teach Module 1 content, then pause for the student prompt.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PROG-2024: authorised Fantastic Food course source.</a:t>
            </a:r>
          </a:p>
          <a:p xmlns:a="http://schemas.openxmlformats.org/drawingml/2006/main">
            <a:r>
              <a:t>- BOOK-2023-STUDENT: authorised Fantastic Food course source.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Teacher cue: use this slide to teach Module 1 content, then pause for the student prompt.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PROG-2024: authorised Fantastic Food course source.</a:t>
            </a:r>
          </a:p>
          <a:p xmlns:a="http://schemas.openxmlformats.org/drawingml/2006/main">
            <a:r>
              <a:t>- BOOK-2023-STUDENT: authorised Fantastic Food course source.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ef8623587004e42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18e4d31616e144cd" /><Relationship Type="http://schemas.openxmlformats.org/officeDocument/2006/relationships/slideLayout" Target="/ppt/slideLayouts/slideLayout1.xml" Id="R2ee9078a98414222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2ee9078a98414222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bbc45d0da014522" /><Relationship Type="http://schemas.openxmlformats.org/officeDocument/2006/relationships/image" Target="/ppt/media/image.jpeg" Id="R0d50a71165f749c8" /><Relationship Type="http://schemas.openxmlformats.org/officeDocument/2006/relationships/notesSlide" Target="/ppt/notesSlides/notesSlide1.xml" Id="R8c362b4400df4a41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e60259a47ea48ca" /><Relationship Type="http://schemas.openxmlformats.org/officeDocument/2006/relationships/notesSlide" Target="/ppt/notesSlides/notesSlide2.xml" Id="R8b5d54d087d84206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2b506b78c6e41ac" /><Relationship Type="http://schemas.openxmlformats.org/officeDocument/2006/relationships/image" Target="/ppt/media/image2.jpeg" Id="Rf6d41bf2f01246fb" /><Relationship Type="http://schemas.openxmlformats.org/officeDocument/2006/relationships/notesSlide" Target="/ppt/notesSlides/notesSlide3.xml" Id="R3ae0f6940eb647c7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7ef9c232f414d8a" /><Relationship Type="http://schemas.openxmlformats.org/officeDocument/2006/relationships/image" Target="/ppt/media/image3.jpeg" Id="R879bef191ca54df8" /><Relationship Type="http://schemas.openxmlformats.org/officeDocument/2006/relationships/notesSlide" Target="/ppt/notesSlides/notesSlide4.xml" Id="Ra17a87d9ac92455d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93dde119f454555" /><Relationship Type="http://schemas.openxmlformats.org/officeDocument/2006/relationships/image" Target="/ppt/media/image4.jpeg" Id="R076bbd6085e246d3" /><Relationship Type="http://schemas.openxmlformats.org/officeDocument/2006/relationships/notesSlide" Target="/ppt/notesSlides/notesSlide5.xml" Id="R7d6162f14d6f42bb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94beb4465dc4d46" /><Relationship Type="http://schemas.openxmlformats.org/officeDocument/2006/relationships/notesSlide" Target="/ppt/notesSlides/notesSlide6.xml" Id="R8f92b4e159d04d27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61cf1de67b64405" /><Relationship Type="http://schemas.openxmlformats.org/officeDocument/2006/relationships/notesSlide" Target="/ppt/notesSlides/notesSlide7.xml" Id="R9c7a6cbbc9ca4c77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8b865edacc047af" /><Relationship Type="http://schemas.openxmlformats.org/officeDocument/2006/relationships/notesSlide" Target="/ppt/notesSlides/notesSlide8.xml" Id="R0c431ca14ba849b2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83B2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d50a71165f749c8"/>
          <a:srcRect xmlns:a="http://schemas.openxmlformats.org/drawingml/2006/main" l="24074" t="0" r="24074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flipH="0" flipV="0">
            <a:off x="6858000" y="0"/>
            <a:ext cx="5334000" cy="6858000"/>
          </a:xfrm>
          <a:prstGeom xmlns:a="http://schemas.openxmlformats.org/drawingml/2006/main" prst="round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26F3DCB-777C-4C8E-B4A9-02AFB509E9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738187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3B2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C9E617F-A88F-4BE4-9B2D-10AAE5E4C1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81050"/>
            <a:ext cx="9144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1A72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B340A3A-8C2E-4135-AB75-EA97FCCB52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23950"/>
            <a:ext cx="3429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350" b="1" i="0">
                <a:solidFill>
                  <a:srgbClr val="FFF4BA"/>
                </a:solidFill>
              </a:defRPr>
            </a:pPr>
            <a:r>
              <a:rPr sz="1350" b="1" i="0">
                <a:solidFill>
                  <a:srgbClr val="FFF4BA"/>
                </a:solidFill>
              </a:rPr>
              <a:t>MODULE 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6EED36D-D67B-45A2-9B23-B2CCE1673B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95450"/>
            <a:ext cx="571500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4050" b="1" i="0">
                <a:solidFill>
                  <a:srgbClr val="FFFFFF"/>
                </a:solidFill>
              </a:defRPr>
            </a:pPr>
            <a:r>
              <a:rPr sz="4050" b="1" i="0">
                <a:solidFill>
                  <a:srgbClr val="FFFFFF"/>
                </a:solidFill>
              </a:rPr>
              <a:t>Kitchen ready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359A4C2-99F4-4C60-B685-B8CF99033E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86150"/>
            <a:ext cx="54292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875" b="0" i="0">
                <a:solidFill>
                  <a:srgbClr val="EAF2E6"/>
                </a:solidFill>
              </a:defRPr>
            </a:pPr>
            <a:r>
              <a:rPr sz="1875" b="0" i="0">
                <a:solidFill>
                  <a:srgbClr val="EAF2E6"/>
                </a:solidFill>
              </a:rPr>
              <a:t>Prepare, work and clean up safely so every practical starts calmly and finishes hygienically.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44ABD08-096A-41E0-BC64-3CEF0FDD8C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10250"/>
            <a:ext cx="4953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125" b="1" i="0">
                <a:solidFill>
                  <a:srgbClr val="C8D8C6"/>
                </a:solidFill>
              </a:defRPr>
            </a:pPr>
            <a:r>
              <a:rPr sz="1125" b="1" i="0">
                <a:solidFill>
                  <a:srgbClr val="C8D8C6"/>
                </a:solidFill>
              </a:rPr>
              <a:t>Teacher-led classroom presentation</a:t>
            </a:r>
          </a:p>
        </p:txBody>
      </p:sp>
    </p:spTree>
    <p:extLst>
      <p:ext uri="{BB962C8B-B14F-4D97-AF65-F5344CB8AC3E}">
        <p14:creationId xmlns:p14="http://schemas.microsoft.com/office/powerpoint/2010/main" val="1181570235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A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127BAFB-B970-470D-88EA-FA366FFAD1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1A72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4D30441-3073-4C99-BB21-DBF7C28B2B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85750"/>
            <a:ext cx="6191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050" b="1" i="0">
                <a:solidFill>
                  <a:srgbClr val="B6402D"/>
                </a:solidFill>
              </a:defRPr>
            </a:pPr>
            <a:r>
              <a:rPr sz="1050" b="1" i="0">
                <a:solidFill>
                  <a:srgbClr val="B6402D"/>
                </a:solidFill>
              </a:rPr>
              <a:t>TODAY’S LEARNING PATH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E438C2B-70F9-4495-8B59-EE8F897A06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334125"/>
            <a:ext cx="9048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75" b="1" i="0">
                <a:solidFill>
                  <a:srgbClr val="5F685F"/>
                </a:solidFill>
              </a:defRPr>
            </a:pPr>
            <a:r>
              <a:rPr sz="975" b="1" i="0">
                <a:solidFill>
                  <a:srgbClr val="5F685F"/>
                </a:solidFill>
              </a:rPr>
              <a:t>MODULE 1  •  KITCHEN READY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2605D6B-030C-47C5-BC90-109EE31E5D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34125"/>
            <a:ext cx="5238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buNone/>
              <a:defRPr sz="975" b="1" i="0">
                <a:solidFill>
                  <a:srgbClr val="B6402D"/>
                </a:solidFill>
              </a:defRPr>
            </a:pPr>
            <a:r>
              <a:rPr sz="975" b="1" i="0">
                <a:solidFill>
                  <a:srgbClr val="B6402D"/>
                </a:solidFill>
              </a:rPr>
              <a:t>02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0916ECD-14AE-486E-9ACE-EF71E91F64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800100"/>
            <a:ext cx="6381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2850" b="1" i="0">
                <a:solidFill>
                  <a:srgbClr val="183B23"/>
                </a:solidFill>
              </a:defRPr>
            </a:pPr>
            <a:r>
              <a:rPr sz="2850" b="1" i="0">
                <a:solidFill>
                  <a:srgbClr val="183B23"/>
                </a:solidFill>
              </a:rPr>
              <a:t>Where are we going?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FED8A82-6D36-4C63-ACE3-246FC8D26A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809750"/>
            <a:ext cx="6858000" cy="895350"/>
          </a:xfrm>
          <a:prstGeom xmlns:a="http://schemas.openxmlformats.org/drawingml/2006/main" prst="roundRect">
            <a:avLst>
              <a:gd name="adj" fmla="val 1276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DCF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031A57F-D020-4232-9FFD-323B29C6EF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019300"/>
            <a:ext cx="476250" cy="476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402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C09DA78-26BF-420D-9EAC-7FE9844BE0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019300"/>
            <a:ext cx="476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500" b="1" i="0">
                <a:solidFill>
                  <a:srgbClr val="FFFFFF"/>
                </a:solidFill>
              </a:defRPr>
            </a:pPr>
            <a:r>
              <a:rPr sz="1500" b="1" i="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38F8DEB-4A17-4251-9E6A-A6CB368277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1971675"/>
            <a:ext cx="5524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875" b="1" i="0">
                <a:solidFill>
                  <a:srgbClr val="183B23"/>
                </a:solidFill>
              </a:defRPr>
            </a:pPr>
            <a:r>
              <a:rPr sz="1875" b="1" i="0">
                <a:solidFill>
                  <a:srgbClr val="183B23"/>
                </a:solidFill>
              </a:rPr>
              <a:t>Ready to work safely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C641BAC-9873-4747-9D33-6BC4A91C1E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028950"/>
            <a:ext cx="6858000" cy="895350"/>
          </a:xfrm>
          <a:prstGeom xmlns:a="http://schemas.openxmlformats.org/drawingml/2006/main" prst="roundRect">
            <a:avLst>
              <a:gd name="adj" fmla="val 1276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DCF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03AB010-947F-4195-9F66-A5C8E3BFBD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238500"/>
            <a:ext cx="476250" cy="476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1A72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A45E68F-E97B-4B58-97CC-A003D4467E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238500"/>
            <a:ext cx="476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500" b="1" i="0">
                <a:solidFill>
                  <a:srgbClr val="183B23"/>
                </a:solidFill>
              </a:defRPr>
            </a:pPr>
            <a:r>
              <a:rPr sz="1500" b="1" i="0">
                <a:solidFill>
                  <a:srgbClr val="183B23"/>
                </a:solidFill>
              </a:rPr>
              <a:t>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3C80020-9BB6-440F-9A8C-93394F24D0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3190875"/>
            <a:ext cx="5524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875" b="1" i="0">
                <a:solidFill>
                  <a:srgbClr val="183B23"/>
                </a:solidFill>
              </a:defRPr>
            </a:pPr>
            <a:r>
              <a:rPr sz="1875" b="1" i="0">
                <a:solidFill>
                  <a:srgbClr val="183B23"/>
                </a:solidFill>
              </a:rPr>
              <a:t>Personal hygiene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79272ED-46DF-4535-B0C2-BB1CAE91C5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248150"/>
            <a:ext cx="6858000" cy="895350"/>
          </a:xfrm>
          <a:prstGeom xmlns:a="http://schemas.openxmlformats.org/drawingml/2006/main" prst="roundRect">
            <a:avLst>
              <a:gd name="adj" fmla="val 1276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DCF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5F493A4-3C0B-46EB-A27F-9757D374AC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457700"/>
            <a:ext cx="476250" cy="476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1A72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7DD11D8-89BA-4844-ACC8-7CBC79F85B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457700"/>
            <a:ext cx="476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500" b="1" i="0">
                <a:solidFill>
                  <a:srgbClr val="183B23"/>
                </a:solidFill>
              </a:defRPr>
            </a:pPr>
            <a:r>
              <a:rPr sz="1500" b="1" i="0">
                <a:solidFill>
                  <a:srgbClr val="183B23"/>
                </a:solidFill>
              </a:rPr>
              <a:t>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0397E47-A8E9-4B33-B817-0064127E66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4410075"/>
            <a:ext cx="5524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875" b="1" i="0">
                <a:solidFill>
                  <a:srgbClr val="183B23"/>
                </a:solidFill>
              </a:defRPr>
            </a:pPr>
            <a:r>
              <a:rPr sz="1875" b="1" i="0">
                <a:solidFill>
                  <a:srgbClr val="183B23"/>
                </a:solidFill>
              </a:rPr>
              <a:t>Kitchen hygiene and washing up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01B8FD0-B556-4FF6-8241-5A773FC45E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1809750"/>
            <a:ext cx="3619500" cy="3333750"/>
          </a:xfrm>
          <a:prstGeom xmlns:a="http://schemas.openxmlformats.org/drawingml/2006/main" prst="roundRect">
            <a:avLst>
              <a:gd name="adj" fmla="val 3429"/>
            </a:avLst>
          </a:prstGeom>
          <a:solidFill xmlns:a="http://schemas.openxmlformats.org/drawingml/2006/main">
            <a:srgbClr val="183B2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5E6689C-1C26-4DD1-BE8F-4228C4E154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2133600"/>
            <a:ext cx="285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125" b="1" i="0">
                <a:solidFill>
                  <a:srgbClr val="FFF4BA"/>
                </a:solidFill>
              </a:defRPr>
            </a:pPr>
            <a:r>
              <a:rPr sz="1125" b="1" i="0">
                <a:solidFill>
                  <a:srgbClr val="FFF4BA"/>
                </a:solidFill>
              </a:rPr>
              <a:t>RETRIEVAL WARM-UP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CECBE35-87B8-47A5-92D3-76DD9260B6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2619375"/>
            <a:ext cx="2857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2100" b="1" i="0">
                <a:solidFill>
                  <a:srgbClr val="FFFFFF"/>
                </a:solidFill>
              </a:defRPr>
            </a:pPr>
            <a:r>
              <a:rPr sz="2100" b="1" i="0">
                <a:solidFill>
                  <a:srgbClr val="FFFFFF"/>
                </a:solidFill>
              </a:rPr>
              <a:t>What do you already know?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69B9930-6CFD-449A-B8D7-9A75744A16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3429000"/>
            <a:ext cx="28575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500" b="0" i="0">
                <a:solidFill>
                  <a:srgbClr val="EAF2E6"/>
                </a:solidFill>
              </a:defRPr>
            </a:pPr>
            <a:r>
              <a:rPr sz="1500" b="0" i="0">
                <a:solidFill>
                  <a:srgbClr val="EAF2E6"/>
                </a:solidFill>
              </a:rPr>
              <a:t>Name one routine that makes a practical safer. Explain how it reduces risk.</a:t>
            </a:r>
          </a:p>
        </p:txBody>
      </p:sp>
    </p:spTree>
    <p:extLst>
      <p:ext uri="{BB962C8B-B14F-4D97-AF65-F5344CB8AC3E}">
        <p14:creationId xmlns:p14="http://schemas.microsoft.com/office/powerpoint/2010/main" val="1298071966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A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1AEBC3A-7986-4CB0-8896-426EF1D9EC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1A72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F402A3F-43DE-4C06-82F8-7A48723CA9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85750"/>
            <a:ext cx="6191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050" b="1" i="0">
                <a:solidFill>
                  <a:srgbClr val="B6402D"/>
                </a:solidFill>
              </a:defRPr>
            </a:pPr>
            <a:r>
              <a:rPr sz="1050" b="1" i="0">
                <a:solidFill>
                  <a:srgbClr val="B6402D"/>
                </a:solidFill>
              </a:rPr>
              <a:t>1.1 READY TO WORK SAFELY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43137A3-FC25-4B2E-82EF-AF628E392E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334125"/>
            <a:ext cx="9048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75" b="1" i="0">
                <a:solidFill>
                  <a:srgbClr val="5F685F"/>
                </a:solidFill>
              </a:defRPr>
            </a:pPr>
            <a:r>
              <a:rPr sz="975" b="1" i="0">
                <a:solidFill>
                  <a:srgbClr val="5F685F"/>
                </a:solidFill>
              </a:rPr>
              <a:t>MODULE 1  •  KITCHEN READY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621F0D0-070A-4EA1-BD2F-D8C85D5EB3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34125"/>
            <a:ext cx="5238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buNone/>
              <a:defRPr sz="975" b="1" i="0">
                <a:solidFill>
                  <a:srgbClr val="B6402D"/>
                </a:solidFill>
              </a:defRPr>
            </a:pPr>
            <a:r>
              <a:rPr sz="975" b="1" i="0">
                <a:solidFill>
                  <a:srgbClr val="B6402D"/>
                </a:solidFill>
              </a:rPr>
              <a:t>03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F9563F7-66DB-41F0-BABF-7B4BC4D905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800100"/>
            <a:ext cx="65722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2850" b="1" i="0">
                <a:solidFill>
                  <a:srgbClr val="183B23"/>
                </a:solidFill>
              </a:defRPr>
            </a:pPr>
            <a:r>
              <a:rPr sz="2850" b="1" i="0">
                <a:solidFill>
                  <a:srgbClr val="183B23"/>
                </a:solidFill>
              </a:rPr>
              <a:t>Ready to work safely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23ED9C4-08D8-45B6-AF60-03B1700AC9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524000"/>
            <a:ext cx="5905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050" b="1" i="0">
                <a:solidFill>
                  <a:srgbClr val="B6402D"/>
                </a:solidFill>
              </a:defRPr>
            </a:pPr>
            <a:r>
              <a:rPr sz="1050" b="1" i="0">
                <a:solidFill>
                  <a:srgbClr val="B6402D"/>
                </a:solidFill>
              </a:rPr>
              <a:t>THREE IDEAS TO PUT ON THE BOARD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7DD36AE-E7C4-4744-B2CF-27352F0C47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181225"/>
            <a:ext cx="209550" cy="209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402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9078988-C352-4BF4-93A4-8147A24EBD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095500"/>
            <a:ext cx="60198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725" b="0" i="0">
                <a:solidFill>
                  <a:srgbClr val="243024"/>
                </a:solidFill>
              </a:defRPr>
            </a:pPr>
            <a:r>
              <a:rPr sz="1725" b="0" i="0">
                <a:solidFill>
                  <a:srgbClr val="243024"/>
                </a:solidFill>
              </a:rPr>
              <a:t>Begin before cooking: secure hair, wear clean protective clothing and closed shoes, then clear the bench.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3E5BFE8-2346-4671-A815-78D540132B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981325"/>
            <a:ext cx="209550" cy="209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1A72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481F8D4-6234-440C-8A55-677D72B2A1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895600"/>
            <a:ext cx="60198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725" b="0" i="0">
                <a:solidFill>
                  <a:srgbClr val="243024"/>
                </a:solidFill>
              </a:defRPr>
            </a:pPr>
            <a:r>
              <a:rPr sz="1725" b="0" i="0">
                <a:solidFill>
                  <a:srgbClr val="243024"/>
                </a:solidFill>
              </a:rPr>
              <a:t>Complete required safety learning and follow teacher instructions before using unfamiliar equipment.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7BF14A6-9337-4DA4-9D27-55352AF745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781425"/>
            <a:ext cx="209550" cy="209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1A72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483AC92-6874-4DFA-815C-96CEBF4C0E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695700"/>
            <a:ext cx="60198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725" b="0" i="0">
                <a:solidFill>
                  <a:srgbClr val="243024"/>
                </a:solidFill>
              </a:defRPr>
            </a:pPr>
            <a:r>
              <a:rPr sz="1725" b="0" i="0">
                <a:solidFill>
                  <a:srgbClr val="243024"/>
                </a:solidFill>
              </a:rPr>
              <a:t>If you notice a hazard or feel unsure, stop, keep others clear and ask the teacher before continuing.</a:t>
            </a:r>
          </a:p>
        </p:txBody>
      </p:sp>
      <p:pic>
        <p:nvPicPr>
          <p:cNvPr id="3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6d41bf2f01246fb"/>
          <a:srcRect xmlns:a="http://schemas.openxmlformats.org/drawingml/2006/main" l="12500" t="0" r="1250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flipH="0" flipV="0">
            <a:off x="7667625" y="1238250"/>
            <a:ext cx="3857625" cy="3429000"/>
          </a:xfrm>
          <a:prstGeom xmlns:a="http://schemas.openxmlformats.org/drawingml/2006/main" prst="roundRect">
            <a:avLst/>
          </a:prstGeom>
        </p:spPr>
      </p:pic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AA29A5B-C556-43BB-B776-0C29EDBF67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4905375"/>
            <a:ext cx="3857625" cy="1000125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E8EFE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4C653E0-2CA3-4BE0-BE55-ACE21E8B53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5048250"/>
            <a:ext cx="3381375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350" b="1" i="0">
                <a:solidFill>
                  <a:srgbClr val="183B23"/>
                </a:solidFill>
              </a:defRPr>
            </a:pPr>
            <a:r>
              <a:rPr sz="1350" b="1" i="0">
                <a:solidFill>
                  <a:srgbClr val="183B23"/>
                </a:solidFill>
              </a:rPr>
              <a:t>ASK THE ROOM | A utensil is damaged before use. What should you do, and why?</a:t>
            </a:r>
          </a:p>
        </p:txBody>
      </p:sp>
    </p:spTree>
    <p:extLst>
      <p:ext uri="{BB962C8B-B14F-4D97-AF65-F5344CB8AC3E}">
        <p14:creationId xmlns:p14="http://schemas.microsoft.com/office/powerpoint/2010/main" val="392502072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A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DFEB249-B8CE-4C0D-918F-2903314974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1A72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B87E364-6F7E-4463-A184-3B1C8875C9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85750"/>
            <a:ext cx="6191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050" b="1" i="0">
                <a:solidFill>
                  <a:srgbClr val="B6402D"/>
                </a:solidFill>
              </a:defRPr>
            </a:pPr>
            <a:r>
              <a:rPr sz="1050" b="1" i="0">
                <a:solidFill>
                  <a:srgbClr val="B6402D"/>
                </a:solidFill>
              </a:rPr>
              <a:t>1.2 PERSONAL HYGIENE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EBEBA5C-9E6B-4383-996B-DD731803E2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334125"/>
            <a:ext cx="9048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75" b="1" i="0">
                <a:solidFill>
                  <a:srgbClr val="5F685F"/>
                </a:solidFill>
              </a:defRPr>
            </a:pPr>
            <a:r>
              <a:rPr sz="975" b="1" i="0">
                <a:solidFill>
                  <a:srgbClr val="5F685F"/>
                </a:solidFill>
              </a:rPr>
              <a:t>MODULE 1  •  KITCHEN READY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7846C4E-3641-4FDE-A541-1E930B6499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34125"/>
            <a:ext cx="5238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buNone/>
              <a:defRPr sz="975" b="1" i="0">
                <a:solidFill>
                  <a:srgbClr val="B6402D"/>
                </a:solidFill>
              </a:defRPr>
            </a:pPr>
            <a:r>
              <a:rPr sz="975" b="1" i="0">
                <a:solidFill>
                  <a:srgbClr val="B6402D"/>
                </a:solidFill>
              </a:rPr>
              <a:t>04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42FB6E7-4B1E-4CE4-B8CB-21E22F2692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800100"/>
            <a:ext cx="65722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2850" b="1" i="0">
                <a:solidFill>
                  <a:srgbClr val="183B23"/>
                </a:solidFill>
              </a:defRPr>
            </a:pPr>
            <a:r>
              <a:rPr sz="2850" b="1" i="0">
                <a:solidFill>
                  <a:srgbClr val="183B23"/>
                </a:solidFill>
              </a:rPr>
              <a:t>Personal hygiene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66F6143-29CE-4458-97CF-9AF10EF344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524000"/>
            <a:ext cx="5905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050" b="1" i="0">
                <a:solidFill>
                  <a:srgbClr val="B6402D"/>
                </a:solidFill>
              </a:defRPr>
            </a:pPr>
            <a:r>
              <a:rPr sz="1050" b="1" i="0">
                <a:solidFill>
                  <a:srgbClr val="B6402D"/>
                </a:solidFill>
              </a:rPr>
              <a:t>THREE IDEAS TO PUT ON THE BOARD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2C37EAA-707C-4E8F-B988-1379BF12E9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181225"/>
            <a:ext cx="209550" cy="209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402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9182631-F0E7-438F-AFA1-0CCA6E4C72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095500"/>
            <a:ext cx="60198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725" b="0" i="0">
                <a:solidFill>
                  <a:srgbClr val="243024"/>
                </a:solidFill>
              </a:defRPr>
            </a:pPr>
            <a:r>
              <a:rPr sz="1725" b="0" i="0">
                <a:solidFill>
                  <a:srgbClr val="243024"/>
                </a:solidFill>
              </a:rPr>
              <a:t>Wash and dry hands thoroughly before food work and after contamination, including coughing, touching hair or handling waste.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31B82F5-D93C-4624-AF38-E5C51F1FDA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981325"/>
            <a:ext cx="209550" cy="209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1A72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6E50FA2-5D1E-4699-9078-1FB7D43646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895600"/>
            <a:ext cx="60198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725" b="0" i="0">
                <a:solidFill>
                  <a:srgbClr val="243024"/>
                </a:solidFill>
              </a:defRPr>
            </a:pPr>
            <a:r>
              <a:rPr sz="1725" b="0" i="0">
                <a:solidFill>
                  <a:srgbClr val="243024"/>
                </a:solidFill>
              </a:rPr>
              <a:t>Keep hair restrained, cover cuts correctly and avoid touching ready-to-eat food unnecessarily.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59CACD4-0234-4755-AE76-7377D49549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781425"/>
            <a:ext cx="209550" cy="209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1A72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10E80A9-A48D-47AF-9E6A-B8E9752712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695700"/>
            <a:ext cx="60198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725" b="0" i="0">
                <a:solidFill>
                  <a:srgbClr val="243024"/>
                </a:solidFill>
              </a:defRPr>
            </a:pPr>
            <a:r>
              <a:rPr sz="1725" b="0" i="0">
                <a:solidFill>
                  <a:srgbClr val="243024"/>
                </a:solidFill>
              </a:rPr>
              <a:t>If a hygiene routine is interrupted, pause and restore the control before returning to the practical.</a:t>
            </a:r>
          </a:p>
        </p:txBody>
      </p:sp>
      <p:pic>
        <p:nvPicPr>
          <p:cNvPr id="3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79bef191ca54df8"/>
          <a:stretch xmlns:a="http://schemas.openxmlformats.org/drawingml/2006/main"/>
        </p:blipFill>
        <p:spPr>
          <a:xfrm xmlns:a="http://schemas.openxmlformats.org/drawingml/2006/main" flipH="0" flipV="0">
            <a:off x="7667625" y="1838325"/>
            <a:ext cx="3857625" cy="2228850"/>
          </a:xfrm>
          <a:prstGeom xmlns:a="http://schemas.openxmlformats.org/drawingml/2006/main" prst="roundRect">
            <a:avLst/>
          </a:prstGeom>
        </p:spPr>
      </p:pic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BCB50D0-AC35-47CB-805C-95487E081C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4905375"/>
            <a:ext cx="3857625" cy="1000125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E8EFE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37D3738-B241-4854-B161-5B0A1CC95A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5048250"/>
            <a:ext cx="3381375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350" b="1" i="0">
                <a:solidFill>
                  <a:srgbClr val="183B23"/>
                </a:solidFill>
              </a:defRPr>
            </a:pPr>
            <a:r>
              <a:rPr sz="1350" b="1" i="0">
                <a:solidFill>
                  <a:srgbClr val="183B23"/>
                </a:solidFill>
              </a:rPr>
              <a:t>ASK THE ROOM | You touch your hair while preparing food. What is the correct next action?</a:t>
            </a:r>
          </a:p>
        </p:txBody>
      </p:sp>
    </p:spTree>
    <p:extLst>
      <p:ext uri="{BB962C8B-B14F-4D97-AF65-F5344CB8AC3E}">
        <p14:creationId xmlns:p14="http://schemas.microsoft.com/office/powerpoint/2010/main" val="766347758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A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07BAF44-B2EF-4745-8732-2936AA0BEC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1A72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9BFEB4E-3AD3-4261-9FA3-DEBABD18A6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85750"/>
            <a:ext cx="6191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050" b="1" i="0">
                <a:solidFill>
                  <a:srgbClr val="B6402D"/>
                </a:solidFill>
              </a:defRPr>
            </a:pPr>
            <a:r>
              <a:rPr sz="1050" b="1" i="0">
                <a:solidFill>
                  <a:srgbClr val="B6402D"/>
                </a:solidFill>
              </a:rPr>
              <a:t>1.3 HYGIENE, HAZARDS AND WASHING UP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7D960C3-9B1B-4491-A7B7-526D5113D0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334125"/>
            <a:ext cx="9048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75" b="1" i="0">
                <a:solidFill>
                  <a:srgbClr val="5F685F"/>
                </a:solidFill>
              </a:defRPr>
            </a:pPr>
            <a:r>
              <a:rPr sz="975" b="1" i="0">
                <a:solidFill>
                  <a:srgbClr val="5F685F"/>
                </a:solidFill>
              </a:rPr>
              <a:t>MODULE 1  •  KITCHEN READY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B52CD26-3A0A-4FC3-8212-2352B98D93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34125"/>
            <a:ext cx="5238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buNone/>
              <a:defRPr sz="975" b="1" i="0">
                <a:solidFill>
                  <a:srgbClr val="B6402D"/>
                </a:solidFill>
              </a:defRPr>
            </a:pPr>
            <a:r>
              <a:rPr sz="975" b="1" i="0">
                <a:solidFill>
                  <a:srgbClr val="B6402D"/>
                </a:solidFill>
              </a:rPr>
              <a:t>05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2E13F56-2B36-4D17-BD15-0DDEACC37B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800100"/>
            <a:ext cx="65722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2850" b="1" i="0">
                <a:solidFill>
                  <a:srgbClr val="183B23"/>
                </a:solidFill>
              </a:defRPr>
            </a:pPr>
            <a:r>
              <a:rPr sz="2850" b="1" i="0">
                <a:solidFill>
                  <a:srgbClr val="183B23"/>
                </a:solidFill>
              </a:rPr>
              <a:t>Kitchen hygiene and washing up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B08870B-E43D-4615-B67C-96C711E98C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524000"/>
            <a:ext cx="5905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050" b="1" i="0">
                <a:solidFill>
                  <a:srgbClr val="B6402D"/>
                </a:solidFill>
              </a:defRPr>
            </a:pPr>
            <a:r>
              <a:rPr sz="1050" b="1" i="0">
                <a:solidFill>
                  <a:srgbClr val="B6402D"/>
                </a:solidFill>
              </a:rPr>
              <a:t>THREE IDEAS TO PUT ON THE BOARD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F7E69F7-3C11-42C2-B268-0E496814C4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181225"/>
            <a:ext cx="209550" cy="209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402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96F0922-BB1E-4359-9FE9-FDBF398CE9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095500"/>
            <a:ext cx="60198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725" b="0" i="0">
                <a:solidFill>
                  <a:srgbClr val="243024"/>
                </a:solidFill>
              </a:defRPr>
            </a:pPr>
            <a:r>
              <a:rPr sz="1725" b="0" i="0">
                <a:solidFill>
                  <a:srgbClr val="243024"/>
                </a:solidFill>
              </a:rPr>
              <a:t>Keep raw materials, clean equipment and waste separated so the work area stays controlled.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6114AAA-0FBD-47D9-9F89-C750BA3FD3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981325"/>
            <a:ext cx="209550" cy="209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1A72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4265774-4A46-400E-A709-C9EC807BA5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895600"/>
            <a:ext cx="60198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725" b="0" i="0">
                <a:solidFill>
                  <a:srgbClr val="243024"/>
                </a:solidFill>
              </a:defRPr>
            </a:pPr>
            <a:r>
              <a:rPr sz="1725" b="0" i="0">
                <a:solidFill>
                  <a:srgbClr val="243024"/>
                </a:solidFill>
              </a:rPr>
              <a:t>Notice hazards early, report them clearly and use the teacher-approved response rather than stepping around the problem.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A3A6ACA-C7C4-4422-A884-3608DA34E5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781425"/>
            <a:ext cx="209550" cy="209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1A72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211CF48-7E26-4985-8464-25E000C6CF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695700"/>
            <a:ext cx="60198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725" b="0" i="0">
                <a:solidFill>
                  <a:srgbClr val="243024"/>
                </a:solidFill>
              </a:defRPr>
            </a:pPr>
            <a:r>
              <a:rPr sz="1725" b="0" i="0">
                <a:solidFill>
                  <a:srgbClr val="243024"/>
                </a:solidFill>
              </a:rPr>
              <a:t>Wash, rinse, dry and store equipment in order; a clean finish protects the next user and shows complete practical work.</a:t>
            </a:r>
          </a:p>
        </p:txBody>
      </p:sp>
      <p:pic>
        <p:nvPicPr>
          <p:cNvPr id="3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76bbd6085e246d3"/>
          <a:srcRect xmlns:a="http://schemas.openxmlformats.org/drawingml/2006/main" l="12500" t="0" r="1250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flipH="0" flipV="0">
            <a:off x="7667625" y="1238250"/>
            <a:ext cx="3857625" cy="3429000"/>
          </a:xfrm>
          <a:prstGeom xmlns:a="http://schemas.openxmlformats.org/drawingml/2006/main" prst="roundRect">
            <a:avLst/>
          </a:prstGeom>
        </p:spPr>
      </p:pic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6C79895-6028-4332-BB55-F82DD7C09A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4905375"/>
            <a:ext cx="3857625" cy="1000125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E8EFE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722723A-5296-495A-AAB1-39178516D1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5048250"/>
            <a:ext cx="3381375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350" b="1" i="0">
                <a:solidFill>
                  <a:srgbClr val="183B23"/>
                </a:solidFill>
              </a:defRPr>
            </a:pPr>
            <a:r>
              <a:rPr sz="1350" b="1" i="0">
                <a:solidFill>
                  <a:srgbClr val="183B23"/>
                </a:solidFill>
              </a:rPr>
              <a:t>ASK THE ROOM | Why is leaving washing up until the final minute a safety and workflow problem?</a:t>
            </a:r>
          </a:p>
        </p:txBody>
      </p:sp>
    </p:spTree>
    <p:extLst>
      <p:ext uri="{BB962C8B-B14F-4D97-AF65-F5344CB8AC3E}">
        <p14:creationId xmlns:p14="http://schemas.microsoft.com/office/powerpoint/2010/main" val="247571815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183B2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32A5B30-C7A3-484C-BBC6-51C353A456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1A72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C928330-F6F6-4BB7-9EC9-D3ACD2E34F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85750"/>
            <a:ext cx="6191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050" b="1" i="0">
                <a:solidFill>
                  <a:srgbClr val="B6402D"/>
                </a:solidFill>
              </a:defRPr>
            </a:pPr>
            <a:r>
              <a:rPr sz="1050" b="1" i="0">
                <a:solidFill>
                  <a:srgbClr val="B6402D"/>
                </a:solidFill>
              </a:rPr>
              <a:t>CHECK FOR UNDERSTANDING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6154687-1D52-4EE5-BE07-CCC974C45C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334125"/>
            <a:ext cx="9048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75" b="1" i="0">
                <a:solidFill>
                  <a:srgbClr val="5F685F"/>
                </a:solidFill>
              </a:defRPr>
            </a:pPr>
            <a:r>
              <a:rPr sz="975" b="1" i="0">
                <a:solidFill>
                  <a:srgbClr val="5F685F"/>
                </a:solidFill>
              </a:rPr>
              <a:t>MODULE 1  •  KITCHEN READY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C130E72-B5A8-401B-A0B8-806F6AE3BC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34125"/>
            <a:ext cx="5238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buNone/>
              <a:defRPr sz="975" b="1" i="0">
                <a:solidFill>
                  <a:srgbClr val="B6402D"/>
                </a:solidFill>
              </a:defRPr>
            </a:pPr>
            <a:r>
              <a:rPr sz="975" b="1" i="0">
                <a:solidFill>
                  <a:srgbClr val="B6402D"/>
                </a:solidFill>
              </a:rPr>
              <a:t>06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8B9D98D-6885-433C-B6F1-7D89990E8C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781050"/>
            <a:ext cx="6858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3000" b="1" i="0">
                <a:solidFill>
                  <a:srgbClr val="FFFFFF"/>
                </a:solidFill>
              </a:defRPr>
            </a:pPr>
            <a:r>
              <a:rPr sz="3000" b="1" i="0">
                <a:solidFill>
                  <a:srgbClr val="FFFFFF"/>
                </a:solidFill>
              </a:rPr>
              <a:t>Stop. Think. Explain.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0EB812B-B76F-41D9-9DEB-10695E3E88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466850"/>
            <a:ext cx="7239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500" b="0" i="0">
                <a:solidFill>
                  <a:srgbClr val="DDE9DB"/>
                </a:solidFill>
              </a:defRPr>
            </a:pPr>
            <a:r>
              <a:rPr sz="1500" b="0" i="0">
                <a:solidFill>
                  <a:srgbClr val="DDE9DB"/>
                </a:solidFill>
              </a:rPr>
              <a:t>Answer silently first, then justify your thinking with a partner.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A96F5B2-731A-43F0-A73D-858575F7F4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190750"/>
            <a:ext cx="10953750" cy="952500"/>
          </a:xfrm>
          <a:prstGeom xmlns:a="http://schemas.openxmlformats.org/drawingml/2006/main" prst="roundRect">
            <a:avLst>
              <a:gd name="adj" fmla="val 12000"/>
            </a:avLst>
          </a:prstGeom>
          <a:solidFill xmlns:a="http://schemas.openxmlformats.org/drawingml/2006/main">
            <a:srgbClr val="234128"/>
          </a:solidFill>
          <a:ln xmlns:a="http://schemas.openxmlformats.org/drawingml/2006/main" w="9525">
            <a:solidFill>
              <a:srgbClr val="4D7254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807A56D-F688-4971-AE7E-2065C3FF8B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409825"/>
            <a:ext cx="4381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800" b="1" i="0">
                <a:solidFill>
                  <a:srgbClr val="FFF4BA"/>
                </a:solidFill>
              </a:defRPr>
            </a:pPr>
            <a:r>
              <a:rPr sz="1800" b="1" i="0">
                <a:solidFill>
                  <a:srgbClr val="FFF4BA"/>
                </a:solidFill>
              </a:rPr>
              <a:t>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BAC2753-556D-41EE-9CA0-67F97090F2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2324100"/>
            <a:ext cx="96202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725" b="1" i="0">
                <a:solidFill>
                  <a:srgbClr val="FFFFFF"/>
                </a:solidFill>
              </a:defRPr>
            </a:pPr>
            <a:r>
              <a:rPr sz="1725" b="1" i="0">
                <a:solidFill>
                  <a:srgbClr val="FFFFFF"/>
                </a:solidFill>
              </a:rPr>
              <a:t>What should you do when equipment is damaged or you are unsure?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58D55B9-9E00-4DA2-A9BC-C124BAB33E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429000"/>
            <a:ext cx="10953750" cy="952500"/>
          </a:xfrm>
          <a:prstGeom xmlns:a="http://schemas.openxmlformats.org/drawingml/2006/main" prst="roundRect">
            <a:avLst>
              <a:gd name="adj" fmla="val 12000"/>
            </a:avLst>
          </a:prstGeom>
          <a:solidFill xmlns:a="http://schemas.openxmlformats.org/drawingml/2006/main">
            <a:srgbClr val="284B30"/>
          </a:solidFill>
          <a:ln xmlns:a="http://schemas.openxmlformats.org/drawingml/2006/main" w="9525">
            <a:solidFill>
              <a:srgbClr val="4D7254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352E3E2-8D98-4029-B649-9EAC3A201A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648075"/>
            <a:ext cx="4381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800" b="1" i="0">
                <a:solidFill>
                  <a:srgbClr val="FFF4BA"/>
                </a:solidFill>
              </a:defRPr>
            </a:pPr>
            <a:r>
              <a:rPr sz="1800" b="1" i="0">
                <a:solidFill>
                  <a:srgbClr val="FFF4BA"/>
                </a:solidFill>
              </a:rPr>
              <a:t>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6EAFAFD-DB17-4E6C-B15A-57890C79E8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562350"/>
            <a:ext cx="96202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725" b="1" i="0">
                <a:solidFill>
                  <a:srgbClr val="FFFFFF"/>
                </a:solidFill>
              </a:defRPr>
            </a:pPr>
            <a:r>
              <a:rPr sz="1725" b="1" i="0">
                <a:solidFill>
                  <a:srgbClr val="FFFFFF"/>
                </a:solidFill>
              </a:rPr>
              <a:t>Name two personal-hygiene controls and explain the risk each reduces.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8E317CC-9103-4B7C-A20E-7F8B9F900F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667250"/>
            <a:ext cx="10953750" cy="952500"/>
          </a:xfrm>
          <a:prstGeom xmlns:a="http://schemas.openxmlformats.org/drawingml/2006/main" prst="roundRect">
            <a:avLst>
              <a:gd name="adj" fmla="val 12000"/>
            </a:avLst>
          </a:prstGeom>
          <a:solidFill xmlns:a="http://schemas.openxmlformats.org/drawingml/2006/main">
            <a:srgbClr val="234128"/>
          </a:solidFill>
          <a:ln xmlns:a="http://schemas.openxmlformats.org/drawingml/2006/main" w="9525">
            <a:solidFill>
              <a:srgbClr val="4D7254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5677AEB-3E9D-465D-B12C-1DD0CB0C8F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886325"/>
            <a:ext cx="4381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800" b="1" i="0">
                <a:solidFill>
                  <a:srgbClr val="FFF4BA"/>
                </a:solidFill>
              </a:defRPr>
            </a:pPr>
            <a:r>
              <a:rPr sz="1800" b="1" i="0">
                <a:solidFill>
                  <a:srgbClr val="FFF4BA"/>
                </a:solidFill>
              </a:rPr>
              <a:t>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7C80B2E-7CDC-4D6B-9662-2972E38610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800600"/>
            <a:ext cx="96202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725" b="1" i="0">
                <a:solidFill>
                  <a:srgbClr val="FFFFFF"/>
                </a:solidFill>
              </a:defRPr>
            </a:pPr>
            <a:r>
              <a:rPr sz="1725" b="1" i="0">
                <a:solidFill>
                  <a:srgbClr val="FFFFFF"/>
                </a:solidFill>
              </a:rPr>
              <a:t>How does an orderly washing-up routine protect the next practical?</a:t>
            </a:r>
          </a:p>
        </p:txBody>
      </p:sp>
    </p:spTree>
    <p:extLst>
      <p:ext uri="{BB962C8B-B14F-4D97-AF65-F5344CB8AC3E}">
        <p14:creationId xmlns:p14="http://schemas.microsoft.com/office/powerpoint/2010/main" val="2122420666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A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07A63E4-21B0-4224-8658-E9CAB4DA58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1A72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04A7ABF-DE20-41BA-B43E-F3D602E559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85750"/>
            <a:ext cx="6191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050" b="1" i="0">
                <a:solidFill>
                  <a:srgbClr val="B6402D"/>
                </a:solidFill>
              </a:defRPr>
            </a:pPr>
            <a:r>
              <a:rPr sz="1050" b="1" i="0">
                <a:solidFill>
                  <a:srgbClr val="B6402D"/>
                </a:solidFill>
              </a:rPr>
              <a:t>MODEL A LONGER RESPONSE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58715CF-D8E9-4142-A830-EBA09BB43C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334125"/>
            <a:ext cx="9048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75" b="1" i="0">
                <a:solidFill>
                  <a:srgbClr val="5F685F"/>
                </a:solidFill>
              </a:defRPr>
            </a:pPr>
            <a:r>
              <a:rPr sz="975" b="1" i="0">
                <a:solidFill>
                  <a:srgbClr val="5F685F"/>
                </a:solidFill>
              </a:rPr>
              <a:t>MODULE 1  •  KITCHEN READY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5C83D69-6A08-4EF2-836D-B8549601DC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34125"/>
            <a:ext cx="5238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buNone/>
              <a:defRPr sz="975" b="1" i="0">
                <a:solidFill>
                  <a:srgbClr val="B6402D"/>
                </a:solidFill>
              </a:defRPr>
            </a:pPr>
            <a:r>
              <a:rPr sz="975" b="1" i="0">
                <a:solidFill>
                  <a:srgbClr val="B6402D"/>
                </a:solidFill>
              </a:rPr>
              <a:t>07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AC12ADF-664D-4C69-8CCD-320DADFE23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781050"/>
            <a:ext cx="7524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2850" b="1" i="0">
                <a:solidFill>
                  <a:srgbClr val="183B23"/>
                </a:solidFill>
              </a:defRPr>
            </a:pPr>
            <a:r>
              <a:rPr sz="2850" b="1" i="0">
                <a:solidFill>
                  <a:srgbClr val="183B23"/>
                </a:solidFill>
              </a:rPr>
              <a:t>Read → Select → Explain → Check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9364380-715C-4BD2-82FB-1836D22F6B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676400"/>
            <a:ext cx="5619750" cy="1762125"/>
          </a:xfrm>
          <a:prstGeom xmlns:a="http://schemas.openxmlformats.org/drawingml/2006/main" prst="roundRect">
            <a:avLst>
              <a:gd name="adj" fmla="val 64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DCF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46209B8-9D3E-4D67-A740-4A52C64987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885950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050" b="1" i="0">
                <a:solidFill>
                  <a:srgbClr val="B6402D"/>
                </a:solidFill>
              </a:defRPr>
            </a:pPr>
            <a:r>
              <a:rPr sz="1050" b="1" i="0">
                <a:solidFill>
                  <a:srgbClr val="B6402D"/>
                </a:solidFill>
              </a:rPr>
              <a:t>THE QUESTION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BEEDAF5-3D5A-4578-BE34-EA4E01FF4B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266950"/>
            <a:ext cx="5095875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725" b="1" i="0">
                <a:solidFill>
                  <a:srgbClr val="183B23"/>
                </a:solidFill>
              </a:defRPr>
            </a:pPr>
            <a:r>
              <a:rPr sz="1725" b="1" i="0">
                <a:solidFill>
                  <a:srgbClr val="183B23"/>
                </a:solidFill>
              </a:rPr>
              <a:t>Explain what you should do when you notice a kitchen hazard or feel unsure, and why that response matters.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0D2BA47-14E7-4266-B266-32006FAEB3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1676400"/>
            <a:ext cx="5010150" cy="1762125"/>
          </a:xfrm>
          <a:prstGeom xmlns:a="http://schemas.openxmlformats.org/drawingml/2006/main" prst="roundRect">
            <a:avLst>
              <a:gd name="adj" fmla="val 6486"/>
            </a:avLst>
          </a:prstGeom>
          <a:solidFill xmlns:a="http://schemas.openxmlformats.org/drawingml/2006/main">
            <a:srgbClr val="E8EFE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F9A7C2F-B13A-4177-894E-7616934768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1885950"/>
            <a:ext cx="247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050" b="1" i="0">
                <a:solidFill>
                  <a:srgbClr val="B6402D"/>
                </a:solidFill>
              </a:defRPr>
            </a:pPr>
            <a:r>
              <a:rPr sz="1050" b="1" i="0">
                <a:solidFill>
                  <a:srgbClr val="B6402D"/>
                </a:solidFill>
              </a:rPr>
              <a:t>WHAT IS THIS ASKING?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DD98727-0682-4FB5-A4A5-30B855EF23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2266950"/>
            <a:ext cx="451485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575" b="0" i="0">
                <a:solidFill>
                  <a:srgbClr val="243024"/>
                </a:solidFill>
              </a:defRPr>
            </a:pPr>
            <a:r>
              <a:rPr sz="1575" b="0" i="0">
                <a:solidFill>
                  <a:srgbClr val="243024"/>
                </a:solidFill>
              </a:rPr>
              <a:t>Describe the action, identify who is protected and link the action to safety or hygiene.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47CE726-A313-4E74-A9BD-285DB9A13A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876675"/>
            <a:ext cx="3371850" cy="142875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183B2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13EA0B3-B97C-4535-AEA7-365242DF5F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038600"/>
            <a:ext cx="2857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050" b="1" i="0">
                <a:solidFill>
                  <a:srgbClr val="FFF4BA"/>
                </a:solidFill>
              </a:defRPr>
            </a:pPr>
            <a:r>
              <a:rPr sz="1050" b="1" i="0">
                <a:solidFill>
                  <a:srgbClr val="FFF4BA"/>
                </a:solidFill>
              </a:rPr>
              <a:t>1  SELECT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B28B7C4-3554-4BB7-9E26-263FEF84DC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381500"/>
            <a:ext cx="29146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350" b="0" i="0">
                <a:solidFill>
                  <a:srgbClr val="FFFFFF"/>
                </a:solidFill>
              </a:defRPr>
            </a:pPr>
            <a:r>
              <a:rPr sz="1350" b="0" i="0">
                <a:solidFill>
                  <a:srgbClr val="FFFFFF"/>
                </a:solidFill>
              </a:rPr>
              <a:t>Choose the relevant hazard, the immediate control and the teacher-support step.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FC0551D-48F3-4974-AD79-19CF3B4118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3876675"/>
            <a:ext cx="3371850" cy="142875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E1A72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07927CC-F0D9-4D6C-BDCF-5DD6E45EA5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4038600"/>
            <a:ext cx="2857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050" b="1" i="0">
                <a:solidFill>
                  <a:srgbClr val="183B23"/>
                </a:solidFill>
              </a:defRPr>
            </a:pPr>
            <a:r>
              <a:rPr sz="1050" b="1" i="0">
                <a:solidFill>
                  <a:srgbClr val="183B23"/>
                </a:solidFill>
              </a:rPr>
              <a:t>2  EXPLAIN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229AE4C-871D-4CFF-9798-1736E9BEDD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4381500"/>
            <a:ext cx="29146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350" b="0" i="0">
                <a:solidFill>
                  <a:srgbClr val="183B23"/>
                </a:solidFill>
              </a:defRPr>
            </a:pPr>
            <a:r>
              <a:rPr sz="1350" b="0" i="0">
                <a:solidFill>
                  <a:srgbClr val="183B23"/>
                </a:solidFill>
              </a:rPr>
              <a:t>Use because, so or therefore to connect your action to the risk it reduces.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BBD1307-D7AD-4657-8327-36830C4580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3876675"/>
            <a:ext cx="3371850" cy="142875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183B2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5A3AAF1-B4D7-47B4-B6C8-81CFD70902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4038600"/>
            <a:ext cx="2857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050" b="1" i="0">
                <a:solidFill>
                  <a:srgbClr val="FFF4BA"/>
                </a:solidFill>
              </a:defRPr>
            </a:pPr>
            <a:r>
              <a:rPr sz="1050" b="1" i="0">
                <a:solidFill>
                  <a:srgbClr val="FFF4BA"/>
                </a:solidFill>
              </a:rPr>
              <a:t>3  CHECK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F35800E-21EC-4922-AAFD-7DB1945D25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4381500"/>
            <a:ext cx="29146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350" b="0" i="0">
                <a:solidFill>
                  <a:srgbClr val="FFFFFF"/>
                </a:solidFill>
              </a:defRPr>
            </a:pPr>
            <a:r>
              <a:rPr sz="1350" b="0" i="0">
                <a:solidFill>
                  <a:srgbClr val="FFFFFF"/>
                </a:solidFill>
              </a:rPr>
              <a:t>Make sure you have answered both what to do and why it matters.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A3681DA-0E29-4CBF-BD43-9C36DE2C9E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619750"/>
            <a:ext cx="10953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350" b="1" i="0">
                <a:solidFill>
                  <a:srgbClr val="B6402D"/>
                </a:solidFill>
              </a:defRPr>
            </a:pPr>
            <a:r>
              <a:rPr sz="1350" b="1" i="0">
                <a:solidFill>
                  <a:srgbClr val="B6402D"/>
                </a:solidFill>
              </a:rPr>
              <a:t>Sentence starter: If I notice a hazard or feel unsure, I should… This matters because…</a:t>
            </a:r>
          </a:p>
        </p:txBody>
      </p:sp>
    </p:spTree>
    <p:extLst>
      <p:ext uri="{BB962C8B-B14F-4D97-AF65-F5344CB8AC3E}">
        <p14:creationId xmlns:p14="http://schemas.microsoft.com/office/powerpoint/2010/main" val="1020404632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B6402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2D3DB27-1EEA-4170-8029-FCF41A8296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1A72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74C45FC-90F6-4D59-B0EF-B8BED69828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85750"/>
            <a:ext cx="6191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050" b="1" i="0">
                <a:solidFill>
                  <a:srgbClr val="B6402D"/>
                </a:solidFill>
              </a:defRPr>
            </a:pPr>
            <a:r>
              <a:rPr sz="1050" b="1" i="0">
                <a:solidFill>
                  <a:srgbClr val="B6402D"/>
                </a:solidFill>
              </a:rPr>
              <a:t>EXIT TICKET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161EBD5-00BC-4BB1-ADE5-C1A05FE7A2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334125"/>
            <a:ext cx="9048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75" b="1" i="0">
                <a:solidFill>
                  <a:srgbClr val="5F685F"/>
                </a:solidFill>
              </a:defRPr>
            </a:pPr>
            <a:r>
              <a:rPr sz="975" b="1" i="0">
                <a:solidFill>
                  <a:srgbClr val="5F685F"/>
                </a:solidFill>
              </a:rPr>
              <a:t>MODULE 1  •  KITCHEN READY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8FB0B69-7614-4F3D-AAB4-300A1B8C05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34125"/>
            <a:ext cx="5238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buNone/>
              <a:defRPr sz="975" b="1" i="0">
                <a:solidFill>
                  <a:srgbClr val="B6402D"/>
                </a:solidFill>
              </a:defRPr>
            </a:pPr>
            <a:r>
              <a:rPr sz="975" b="1" i="0">
                <a:solidFill>
                  <a:srgbClr val="B6402D"/>
                </a:solidFill>
              </a:rPr>
              <a:t>08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7ED295F-DAF6-4E83-9490-1D065B4400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838200"/>
            <a:ext cx="6858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3150" b="1" i="0">
                <a:solidFill>
                  <a:srgbClr val="FFFFFF"/>
                </a:solidFill>
              </a:defRPr>
            </a:pPr>
            <a:r>
              <a:rPr sz="3150" b="1" i="0">
                <a:solidFill>
                  <a:srgbClr val="FFFFFF"/>
                </a:solidFill>
              </a:rPr>
              <a:t>Before you pack up…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647C4F4-AFD6-436F-8CDE-FBD5A2DF05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952625"/>
            <a:ext cx="8572500" cy="838200"/>
          </a:xfrm>
          <a:prstGeom xmlns:a="http://schemas.openxmlformats.org/drawingml/2006/main" prst="roundRect">
            <a:avLst>
              <a:gd name="adj" fmla="val 1363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8D7AFC7-3767-4FA1-8CFF-B1334A87A3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085975"/>
            <a:ext cx="8001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875" b="1" i="0">
                <a:solidFill>
                  <a:srgbClr val="183B23"/>
                </a:solidFill>
              </a:defRPr>
            </a:pPr>
            <a:r>
              <a:rPr sz="1875" b="1" i="0">
                <a:solidFill>
                  <a:srgbClr val="183B23"/>
                </a:solidFill>
              </a:rPr>
              <a:t>1. One safety routine I can now explain is…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70D77DA-8B4D-475F-B45D-A85C47F2D7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095625"/>
            <a:ext cx="8572500" cy="838200"/>
          </a:xfrm>
          <a:prstGeom xmlns:a="http://schemas.openxmlformats.org/drawingml/2006/main" prst="roundRect">
            <a:avLst>
              <a:gd name="adj" fmla="val 1363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ED13384-CB3E-49C5-BC1B-324580FDFD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228975"/>
            <a:ext cx="8001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875" b="1" i="0">
                <a:solidFill>
                  <a:srgbClr val="183B23"/>
                </a:solidFill>
              </a:defRPr>
            </a:pPr>
            <a:r>
              <a:rPr sz="1875" b="1" i="0">
                <a:solidFill>
                  <a:srgbClr val="183B23"/>
                </a:solidFill>
              </a:rPr>
              <a:t>2. One hygiene action I will use in the next practical is…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73C6D95-8311-45FC-B62F-8935B171EE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238625"/>
            <a:ext cx="8572500" cy="838200"/>
          </a:xfrm>
          <a:prstGeom xmlns:a="http://schemas.openxmlformats.org/drawingml/2006/main" prst="roundRect">
            <a:avLst>
              <a:gd name="adj" fmla="val 1363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B2B4722-C001-4C28-9D0D-38B71C275A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371975"/>
            <a:ext cx="8001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875" b="1" i="0">
                <a:solidFill>
                  <a:srgbClr val="183B23"/>
                </a:solidFill>
              </a:defRPr>
            </a:pPr>
            <a:r>
              <a:rPr sz="1875" b="1" i="0">
                <a:solidFill>
                  <a:srgbClr val="183B23"/>
                </a:solidFill>
              </a:rPr>
              <a:t>3. One question I should ask before using unfamiliar equipment is…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B8BC96C-4000-451A-AA1D-6B492E7B32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2476500"/>
            <a:ext cx="1619250" cy="1619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1A72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8952659-1B74-4310-8587-7403094CDF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2724150"/>
            <a:ext cx="123825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800" b="1" i="0">
                <a:solidFill>
                  <a:srgbClr val="183B23"/>
                </a:solidFill>
              </a:defRPr>
            </a:pPr>
            <a:r>
              <a:rPr sz="1800" b="1" i="0">
                <a:solidFill>
                  <a:srgbClr val="183B23"/>
                </a:solidFill>
              </a:rPr>
              <a:t>SAVE</a:t>
            </a:r>
          </a:p>
          <a:p xmlns:a="http://schemas.openxmlformats.org/drawingml/2006/main">
            <a:pPr algn="ctr">
              <a:buNone/>
              <a:defRPr sz="1800" b="1" i="0">
                <a:solidFill>
                  <a:srgbClr val="183B23"/>
                </a:solidFill>
              </a:defRPr>
            </a:pPr>
            <a:r>
              <a:rPr sz="1800" b="1" i="0">
                <a:solidFill>
                  <a:srgbClr val="183B23"/>
                </a:solidFill>
              </a:rPr>
              <a:t>YOUR</a:t>
            </a:r>
          </a:p>
          <a:p xmlns:a="http://schemas.openxmlformats.org/drawingml/2006/main">
            <a:pPr algn="ctr">
              <a:buNone/>
              <a:defRPr sz="1800" b="1" i="0">
                <a:solidFill>
                  <a:srgbClr val="183B23"/>
                </a:solidFill>
              </a:defRPr>
            </a:pPr>
            <a:r>
              <a:rPr sz="1800" b="1" i="0">
                <a:solidFill>
                  <a:srgbClr val="183B23"/>
                </a:solidFill>
              </a:rPr>
              <a:t>EVIDENCE</a:t>
            </a:r>
          </a:p>
        </p:txBody>
      </p:sp>
    </p:spTree>
    <p:extLst>
      <p:ext uri="{BB962C8B-B14F-4D97-AF65-F5344CB8AC3E}">
        <p14:creationId xmlns:p14="http://schemas.microsoft.com/office/powerpoint/2010/main" val="125867403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2026-08-18T02:22:42.0140000Z</dcterms:created>
  <dcterms:modified xsi:type="dcterms:W3CDTF">2026-08-18T02:22:42.0150000Z</dcterms:modified>
</coreProperties>
</file>