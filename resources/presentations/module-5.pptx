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9a018771884ddc" /><Relationship Type="http://schemas.openxmlformats.org/officeDocument/2006/relationships/extended-properties" Target="/docProps/app.xml" Id="Rc05061735784400c" /><Relationship Type="http://schemas.openxmlformats.org/officeDocument/2006/relationships/officeDocument" Target="/ppt/presentation.xml" Id="R8a165b47a28948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183f08fde04896"/>
  </p:sldMasterIdLst>
  <p:notesMasterIdLst>
    <p:notesMasterId xmlns:r="http://schemas.openxmlformats.org/officeDocument/2006/relationships" r:id="R158972d6bf5a4679"/>
  </p:notesMasterIdLst>
  <p:sldIdLst>
    <p:sldId xmlns:r="http://schemas.openxmlformats.org/officeDocument/2006/relationships" id="256" r:id="Rfe9e425025a54bfd"/>
    <p:sldId xmlns:r="http://schemas.openxmlformats.org/officeDocument/2006/relationships" id="257" r:id="R40eaf39881e646f4"/>
    <p:sldId xmlns:r="http://schemas.openxmlformats.org/officeDocument/2006/relationships" id="258" r:id="R36693e93c0864bbe"/>
    <p:sldId xmlns:r="http://schemas.openxmlformats.org/officeDocument/2006/relationships" id="259" r:id="R5ec1598aa116429a"/>
    <p:sldId xmlns:r="http://schemas.openxmlformats.org/officeDocument/2006/relationships" id="260" r:id="Rf4bfc828ab344ad5"/>
    <p:sldId xmlns:r="http://schemas.openxmlformats.org/officeDocument/2006/relationships" id="261" r:id="R74b01e0793734661"/>
    <p:sldId xmlns:r="http://schemas.openxmlformats.org/officeDocument/2006/relationships" id="262" r:id="Rc4496e6c9d204bf9"/>
    <p:sldId xmlns:r="http://schemas.openxmlformats.org/officeDocument/2006/relationships" id="263" r:id="Ra87cc1acbca345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01c548f140476c" /><Relationship Type="http://schemas.openxmlformats.org/officeDocument/2006/relationships/slideMaster" Target="/ppt/slideMasters/slideMaster1.xml" Id="Ra7183f08fde04896" /><Relationship Type="http://schemas.openxmlformats.org/officeDocument/2006/relationships/notesMaster" Target="/ppt/notesMasters/notesMaster1.xml" Id="R158972d6bf5a4679" /><Relationship Type="http://schemas.openxmlformats.org/officeDocument/2006/relationships/presProps" Target="/ppt/presProps.xml" Id="R2fb09d35b227410a" /><Relationship Type="http://schemas.openxmlformats.org/officeDocument/2006/relationships/tableStyles" Target="/ppt/tableStyles.xml" Id="Rdc3894ad478a4942" /><Relationship Type="http://schemas.openxmlformats.org/officeDocument/2006/relationships/slide" Target="/ppt/slides/slide1.xml" Id="Rfe9e425025a54bfd" /><Relationship Type="http://schemas.openxmlformats.org/officeDocument/2006/relationships/slide" Target="/ppt/slides/slide2.xml" Id="R40eaf39881e646f4" /><Relationship Type="http://schemas.openxmlformats.org/officeDocument/2006/relationships/slide" Target="/ppt/slides/slide3.xml" Id="R36693e93c0864bbe" /><Relationship Type="http://schemas.openxmlformats.org/officeDocument/2006/relationships/slide" Target="/ppt/slides/slide4.xml" Id="R5ec1598aa116429a" /><Relationship Type="http://schemas.openxmlformats.org/officeDocument/2006/relationships/slide" Target="/ppt/slides/slide5.xml" Id="Rf4bfc828ab344ad5" /><Relationship Type="http://schemas.openxmlformats.org/officeDocument/2006/relationships/slide" Target="/ppt/slides/slide6.xml" Id="R74b01e0793734661" /><Relationship Type="http://schemas.openxmlformats.org/officeDocument/2006/relationships/slide" Target="/ppt/slides/slide7.xml" Id="Rc4496e6c9d204bf9" /><Relationship Type="http://schemas.openxmlformats.org/officeDocument/2006/relationships/slide" Target="/ppt/slides/slide8.xml" Id="Ra87cc1acbca345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307f09ee274c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daa45b270c420f" /><Relationship Type="http://schemas.openxmlformats.org/officeDocument/2006/relationships/notesMaster" Target="/ppt/notesMasters/notesMaster1.xml" Id="R15bd91a6b0b34e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d7d28e87454258" /><Relationship Type="http://schemas.openxmlformats.org/officeDocument/2006/relationships/notesMaster" Target="/ppt/notesMasters/notesMaster1.xml" Id="R1603efb36bfb46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1baafde3f44713" /><Relationship Type="http://schemas.openxmlformats.org/officeDocument/2006/relationships/notesMaster" Target="/ppt/notesMasters/notesMaster1.xml" Id="Rf637538001a348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918a1faf284103" /><Relationship Type="http://schemas.openxmlformats.org/officeDocument/2006/relationships/notesMaster" Target="/ppt/notesMasters/notesMaster1.xml" Id="Rd98d6b5f5c8844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aceede9b634f09" /><Relationship Type="http://schemas.openxmlformats.org/officeDocument/2006/relationships/notesMaster" Target="/ppt/notesMasters/notesMaster1.xml" Id="R6fedd5e6c59941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13014e87b541e6" /><Relationship Type="http://schemas.openxmlformats.org/officeDocument/2006/relationships/notesMaster" Target="/ppt/notesMasters/notesMaster1.xml" Id="Ra9bb3347fbc94b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58cc4a030947a6" /><Relationship Type="http://schemas.openxmlformats.org/officeDocument/2006/relationships/notesMaster" Target="/ppt/notesMasters/notesMaster1.xml" Id="Rdcdc37206bf14e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246a4daae94bda" /><Relationship Type="http://schemas.openxmlformats.org/officeDocument/2006/relationships/notesMaster" Target="/ppt/notesMasters/notesMaster1.xml" Id="Rebe3f68891d046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5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- REC-CARBONARA: authorised Fantastic Food course source.</a:t>
            </a:r>
          </a:p>
          <a:p xmlns:a="http://schemas.openxmlformats.org/drawingml/2006/main">
            <a:r>
              <a:t>- MODULE-5-GENERATED-VISUAL: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5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- REC-CARBONARA: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5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- MODULE-5-GENERATED-VISUAL: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5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REC-CARBONARA: authorised Fantastic Food course source.</a:t>
            </a:r>
          </a:p>
          <a:p xmlns:a="http://schemas.openxmlformats.org/drawingml/2006/main">
            <a:r>
              <a:t>- MODULE-5-GENERATED-VISUAL: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5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- MODULE-5-GENERATED-VISUAL: project-specific generated teaching visual, local course asset.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5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- REC-CARBONARA: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5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cue: use this slide to teach Module 5 content, then pause for the student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PROG-2024: authorised Fantastic Food course source.</a:t>
            </a:r>
          </a:p>
          <a:p xmlns:a="http://schemas.openxmlformats.org/drawingml/2006/main">
            <a:r>
              <a:t>- BOOK-2023-STUDENT: authorised Fantastic Food course source.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800d48a3c4c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f13449338d4d66" /><Relationship Type="http://schemas.openxmlformats.org/officeDocument/2006/relationships/slideLayout" Target="/ppt/slideLayouts/slideLayout1.xml" Id="R644aa12756b042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4aa12756b042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395281a534a88" /><Relationship Type="http://schemas.openxmlformats.org/officeDocument/2006/relationships/image" Target="/ppt/media/image.jpeg" Id="Reb8b933513734601" /><Relationship Type="http://schemas.openxmlformats.org/officeDocument/2006/relationships/notesSlide" Target="/ppt/notesSlides/notesSlide1.xml" Id="R3c96f18fbc584b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4b30a8d634bf9" /><Relationship Type="http://schemas.openxmlformats.org/officeDocument/2006/relationships/notesSlide" Target="/ppt/notesSlides/notesSlide2.xml" Id="R4bdff6a5cdcf40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3738690f240f5" /><Relationship Type="http://schemas.openxmlformats.org/officeDocument/2006/relationships/image" Target="/ppt/media/image2.jpeg" Id="R7f94d8f284fe4936" /><Relationship Type="http://schemas.openxmlformats.org/officeDocument/2006/relationships/notesSlide" Target="/ppt/notesSlides/notesSlide3.xml" Id="R5deeab43871949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b02b1f525410b" /><Relationship Type="http://schemas.openxmlformats.org/officeDocument/2006/relationships/image" Target="/ppt/media/image3.jpeg" Id="Re57d513e5ce147ce" /><Relationship Type="http://schemas.openxmlformats.org/officeDocument/2006/relationships/notesSlide" Target="/ppt/notesSlides/notesSlide4.xml" Id="R0357cdf9f81540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cabfb629c469e" /><Relationship Type="http://schemas.openxmlformats.org/officeDocument/2006/relationships/image" Target="/ppt/media/image4.jpeg" Id="R613fe63a8d1f4182" /><Relationship Type="http://schemas.openxmlformats.org/officeDocument/2006/relationships/notesSlide" Target="/ppt/notesSlides/notesSlide5.xml" Id="R8ab945911d3c4b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fd5b4bf3c4c6e" /><Relationship Type="http://schemas.openxmlformats.org/officeDocument/2006/relationships/notesSlide" Target="/ppt/notesSlides/notesSlide6.xml" Id="Rd23f3a322b8341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66eaeb7e34ebe" /><Relationship Type="http://schemas.openxmlformats.org/officeDocument/2006/relationships/notesSlide" Target="/ppt/notesSlides/notesSlide7.xml" Id="R834af93b07d947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b26a9645b450e" /><Relationship Type="http://schemas.openxmlformats.org/officeDocument/2006/relationships/notesSlide" Target="/ppt/notesSlides/notesSlide8.xml" Id="Rfefcf768c26d49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b933513734601"/>
          <a:srcRect xmlns:a="http://schemas.openxmlformats.org/drawingml/2006/main" l="24074" t="0" r="240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858000" y="0"/>
            <a:ext cx="5334000" cy="68580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F3DCB-777C-4C8E-B4A9-02AFB509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8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E617F-A88F-4BE4-9B2D-10AAE5E4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14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40A3A-8C2E-4135-AB75-EA97FCCB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4BA"/>
                </a:solidFill>
              </a:defRPr>
            </a:pPr>
            <a:r>
              <a:rPr sz="1350" b="1" i="0">
                <a:solidFill>
                  <a:srgbClr val="FFF4BA"/>
                </a:solidFill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D36D-D67B-45A2-9B23-B2CCE16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Evaluate and 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9A4C2-99F4-4C60-B685-B8CF9903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EAF2E6"/>
                </a:solidFill>
              </a:defRPr>
            </a:pPr>
            <a:r>
              <a:rPr sz="1875" b="0" i="0">
                <a:solidFill>
                  <a:srgbClr val="EAF2E6"/>
                </a:solidFill>
              </a:rPr>
              <a:t>Explain fibre and water, manage the Carbonara workflow, then communicate and evaluate food solutions with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ABD08-096A-41E0-BC64-3CEF0FDD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C8D8C6"/>
                </a:solidFill>
              </a:defRPr>
            </a:pPr>
            <a:r>
              <a:rPr sz="1125" b="1" i="0">
                <a:solidFill>
                  <a:srgbClr val="C8D8C6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815702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7BAFB-B970-470D-88EA-FA366FFA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30441-3073-4C99-BB21-DBF7C28B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TODAY’S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38C2B-70F9-4495-8B59-EE8F897A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5  •  EVALUATE AND 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05D6B-030C-47C5-BC90-109EE31E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16ECD-14AE-486E-9ACE-EF71E91F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Where are we going?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D8A82-6D36-4C63-ACE3-246FC8D2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1A57F-D020-4232-9FFD-323B29C6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9DA78-26BF-420D-9EAC-7FE9844B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F8DEB-4A17-4251-9E6A-A6CB3682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Fibre and water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41BAC-9873-4747-9D33-6BC4A91C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AB010-947F-4195-9F66-A5C8E3BF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5E68F-E97B-4B58-97CC-A003D446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3B23"/>
                </a:solidFill>
              </a:defRPr>
            </a:pPr>
            <a:r>
              <a:rPr sz="1500" b="1" i="0">
                <a:solidFill>
                  <a:srgbClr val="183B2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80020-9BB6-440F-9A8C-93394F24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908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Carbonara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272ED-46DF-4535-B0C2-BB1CAE91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6858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493A4-3C0B-46EB-A27F-9757D374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D11D8-89BA-4844-ACC8-7CBC79F8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83B23"/>
                </a:solidFill>
              </a:defRPr>
            </a:pPr>
            <a:r>
              <a:rPr sz="1500" b="1" i="0">
                <a:solidFill>
                  <a:srgbClr val="183B2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97E47-A8E9-4B33-B817-0064127E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Communicate and evaluate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B8FD0-B556-4FF6-8241-5A773FC4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19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6689C-1C26-4DD1-BE8F-4228C4E1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33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4BA"/>
                </a:solidFill>
              </a:defRPr>
            </a:pPr>
            <a:r>
              <a:rPr sz="1125" b="1" i="0">
                <a:solidFill>
                  <a:srgbClr val="FFF4BA"/>
                </a:solidFill>
              </a:rPr>
              <a:t>RETRIEVAL WARM-UP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CBE35-87B8-47A5-92D3-76DD9260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What do you already know?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9B9930-6CFD-449A-B8D7-9A75744A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290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EAF2E6"/>
                </a:solidFill>
              </a:defRPr>
            </a:pPr>
            <a:r>
              <a:rPr sz="1500" b="0" i="0">
                <a:solidFill>
                  <a:srgbClr val="EAF2E6"/>
                </a:solidFill>
              </a:rPr>
              <a:t>What is the difference between describing a food solution and evaluating it? Name one dependent pasta step.</a:t>
            </a:r>
          </a:p>
        </p:txBody>
      </p:sp>
    </p:spTree>
    <p:extLst>
      <p:ext uri="{BB962C8B-B14F-4D97-AF65-F5344CB8AC3E}">
        <p14:creationId xmlns:p14="http://schemas.microsoft.com/office/powerpoint/2010/main" val="1298071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EBC3A-7986-4CB0-8896-426EF1D9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02A3F-43DE-4C06-82F8-7A48723C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5.1 FIBRE AND WATER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137A3-FC25-4B2E-82EF-AF628E39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5  •  EVALUATE AND 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1F0D0-070A-4EA1-BD2F-D8C85D5E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563F7-66DB-41F0-BABF-7B4BC4D9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Fibre and water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ED9C4-08D8-45B6-AF60-03B1700A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D36AE-E7C4-4744-B2CF-27352F0C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78988-C352-4BF4-93A4-8147A24E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Fibre comes from plant foods and supports healthy digestive function as part of an overall varied food pattern.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5BFE8-2346-4671-A815-78D54013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1F8D4-6234-440C-8A55-677D72B2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Water supports hydration and many body functions; needs can change with activity, weather and the person’s day.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F14A6-9337-4DA4-9D27-55352AF7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3AC92-6874-4DFA-815C-96CEBF4C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Use wholegrains, legumes, vegetables and fruit across meals, and make water a regular practical choice.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4d8f284fe4936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29A5B-C556-43BB-B776-0C29EDBF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653E0-2CA3-4BE0-BE55-ACE21E8B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 | Why should fibre and water be explained as different but connected needs?</a:t>
            </a:r>
          </a:p>
        </p:txBody>
      </p:sp>
    </p:spTree>
    <p:extLst>
      <p:ext uri="{BB962C8B-B14F-4D97-AF65-F5344CB8AC3E}">
        <p14:creationId xmlns:p14="http://schemas.microsoft.com/office/powerpoint/2010/main" val="392502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EB249-B8CE-4C0D-918F-29033149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7E364-6F7E-4463-A184-3B1C8875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5.2 FETTUCCINE CARBONARA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EBA5C-9E6B-4383-996B-DD731803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5  •  EVALUATE AND 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46C4E-3641-4FDE-A541-1E930B64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FB6E7-4B1E-4CE4-B8CB-21E22F26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Carbonara: safe sequencing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F6143-29CE-4458-97CF-9AF10EF3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37EAA-707C-4E8F-B988-1379BF12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82631-F0E7-438F-AFA1-0CCA6E4C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Read the current teacher recipe completely, identify cooking times and prepare measured ingredients before heat begins.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B82F5-D93C-4624-AF38-E5C51F1F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50FA2-5D1E-4699-9078-1FB7D436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Coordinate dependent steps so pasta, sauce ingredients and serving readiness come together without unsafe rushing.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CACD4-0234-4755-AE76-7377D495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E80A9-A48D-47AF-9E6A-B8E97527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Use heat safely, check doneness and consistency, then serve promptly and complete washing up while reviewing one workflow improvement.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d513e5ce147ce"/>
          <a:stretch xmlns:a="http://schemas.openxmlformats.org/drawingml/2006/main"/>
        </p:blipFill>
        <p:spPr>
          <a:xfrm xmlns:a="http://schemas.openxmlformats.org/drawingml/2006/main" flipH="0" flipV="0">
            <a:off x="7667625" y="1838325"/>
            <a:ext cx="3857625" cy="222885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B50D0-AC35-47CB-805C-95487E08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D3738-B241-4854-B161-5B0A1CC9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 | Which steps must be timed together so Carbonara finishes safely and well?</a:t>
            </a:r>
          </a:p>
        </p:txBody>
      </p:sp>
    </p:spTree>
    <p:extLst>
      <p:ext uri="{BB962C8B-B14F-4D97-AF65-F5344CB8AC3E}">
        <p14:creationId xmlns:p14="http://schemas.microsoft.com/office/powerpoint/2010/main" val="766347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BAF44-B2EF-4745-8732-2936AA0B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FEB4E-3AD3-4261-9FA3-DEBABD18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5.3 COMMUNICATE AND EVALUATE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960C3-9B1B-4491-A7B7-526D5113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5  •  EVALUATE AND 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2CD26-3A0A-4FC3-8212-2352B98D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13F56-2B36-4D17-BD15-0DDEACC3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Communicate and evaluate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8870B-E43D-4615-B67C-96C711E9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THREE IDEAS TO PUT ON THE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E69F7-3C11-42C2-B268-0E496814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F0922-BB1E-4359-9FE9-FDBF398C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Define the adolescent audience and the communication tool’s purpose before choosing content or layout.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14AAA-0FBD-47D9-9F89-C750BA3F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65774-4A46-400E-A709-C9EC807B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Organise a clear home or title page, suitable course content and navigation that helps a student find the next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A6ACA-C7C4-4422-A884-3608DA34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1CF48-7E26-4985-8464-25E000C6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243024"/>
                </a:solidFill>
              </a:defRPr>
            </a:pPr>
            <a:r>
              <a:rPr sz="1725" b="0" i="0">
                <a:solidFill>
                  <a:srgbClr val="243024"/>
                </a:solidFill>
              </a:rPr>
              <a:t>Evaluate the food solution and communication tool for appeal and ease of use, using observations as evidence and naming one improvement.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fe63a8d1f4182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67625" y="1238250"/>
            <a:ext cx="3857625" cy="3429000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79895-6028-4332-BB55-F82DD7C0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05375"/>
            <a:ext cx="3857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2723A-5296-495A-AAB1-39178516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3B23"/>
                </a:solidFill>
              </a:defRPr>
            </a:pPr>
            <a:r>
              <a:rPr sz="1350" b="1" i="0">
                <a:solidFill>
                  <a:srgbClr val="183B23"/>
                </a:solidFill>
              </a:rPr>
              <a:t>ASK THE ROOM | What evidence would show that another student can navigate the communication tool easily?</a:t>
            </a:r>
          </a:p>
        </p:txBody>
      </p:sp>
    </p:spTree>
    <p:extLst>
      <p:ext uri="{BB962C8B-B14F-4D97-AF65-F5344CB8AC3E}">
        <p14:creationId xmlns:p14="http://schemas.microsoft.com/office/powerpoint/2010/main" val="24757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3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A5B30-C7A3-484C-BBC6-51C353A4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28330-F6F6-4BB7-9EC9-D3ACD2E3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CHECK FOR UNDERSTANDING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54687-1D52-4EE5-BE07-CCC974C4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5  •  EVALUATE AND 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30E72-B5A8-401B-A0B8-806F6AE3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9D98D-6885-433C-B6F1-7D89990E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B812B-B76F-41D9-9DEB-10695E3E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DDE9DB"/>
                </a:solidFill>
              </a:defRPr>
            </a:pPr>
            <a:r>
              <a:rPr sz="1500" b="0" i="0">
                <a:solidFill>
                  <a:srgbClr val="DDE9DB"/>
                </a:solidFill>
              </a:rPr>
              <a:t>Answer silently first, then justify your thinking with a partner.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6F5B2-731A-43F0-A73D-858575F7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4128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7A56D-F688-4971-AE7E-2065C3FF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C2753-556D-41EE-9CA0-67F97090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How do fibre and water support the body in different ways?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D55B9-9E00-4DA2-A9BC-C124BAB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84B30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2E3E2-8D98-4029-B649-9EAC3A20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AFAFD-DB17-4E6C-B15A-57890C79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Which Carbonara steps depend on one another, and what checks control them?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317CC-9103-4B7C-A20E-7F8B9F90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095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34128"/>
          </a:solidFill>
          <a:ln xmlns:a="http://schemas.openxmlformats.org/drawingml/2006/main" w="9525">
            <a:solidFill>
              <a:srgbClr val="4D72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77AEB-3E9D-465D-B12C-1DD0CB0C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4BA"/>
                </a:solidFill>
              </a:defRPr>
            </a:pPr>
            <a:r>
              <a:rPr sz="1800" b="1" i="0">
                <a:solidFill>
                  <a:srgbClr val="FFF4BA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80B2E-7CDC-4D6B-9662-2972E386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What evidence can test a communication tool’s appeal and ease of use?</a:t>
            </a:r>
          </a:p>
        </p:txBody>
      </p:sp>
    </p:spTree>
    <p:extLst>
      <p:ext uri="{BB962C8B-B14F-4D97-AF65-F5344CB8AC3E}">
        <p14:creationId xmlns:p14="http://schemas.microsoft.com/office/powerpoint/2010/main" val="2122420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A63E4-21B0-4224-8658-E9CAB4DA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A7ABF-DE20-41BA-B43E-F3D602E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MODEL A LONGER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715CF-D8E9-4142-A830-EBA09BB4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5  •  EVALUATE AND 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83D69-6A08-4EF2-836D-B8549601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12ADF-664D-4C69-8CCD-320DADFE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3B23"/>
                </a:solidFill>
              </a:defRPr>
            </a:pPr>
            <a:r>
              <a:rPr sz="2850" b="1" i="0">
                <a:solidFill>
                  <a:srgbClr val="183B23"/>
                </a:solidFill>
              </a:rPr>
              <a:t>Read → Select → Explain →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64380-715C-4BD2-82FB-1836D22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6197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209B8-9D3E-4D67-A740-4A52C649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THE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EDAF5-3D5A-4578-BE34-EA4E01FF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095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83B23"/>
                </a:solidFill>
              </a:defRPr>
            </a:pPr>
            <a:r>
              <a:rPr sz="1725" b="1" i="0">
                <a:solidFill>
                  <a:srgbClr val="183B23"/>
                </a:solidFill>
              </a:rPr>
              <a:t>Create a communication-tool plan for adolescents and explain one evidence-based usability improvement.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2BA47-14E7-4266-B266-32006FAE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50101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8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A7C2F-B13A-4177-894E-76169347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85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WHAT IS THIS ASKING?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98727-0682-4FB5-A4A5-30B855EF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514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243024"/>
                </a:solidFill>
              </a:defRPr>
            </a:pPr>
            <a:r>
              <a:rPr sz="1575" b="0" i="0">
                <a:solidFill>
                  <a:srgbClr val="243024"/>
                </a:solidFill>
              </a:rPr>
              <a:t>Identify the audience and purpose, organise the content, then use evidence to improve appeal or ease of use.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CE726-A313-4E74-A9BD-285DB9A1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EA0B3-B97C-4535-AEA7-365242DF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4BA"/>
                </a:solidFill>
              </a:defRPr>
            </a:pPr>
            <a:r>
              <a:rPr sz="1050" b="1" i="0">
                <a:solidFill>
                  <a:srgbClr val="FFF4BA"/>
                </a:solidFill>
              </a:rPr>
              <a:t>1  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8B7C4-3554-4BB7-9E26-263FEF84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Choose a home or title page, suitable content, clear navigation and one observation from a user check.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0551D-48F3-4974-AD79-19CF3B41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927CC-F0D9-4D6C-BDCF-5DD6E45E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3B23"/>
                </a:solidFill>
              </a:defRPr>
            </a:pPr>
            <a:r>
              <a:rPr sz="1050" b="1" i="0">
                <a:solidFill>
                  <a:srgbClr val="183B23"/>
                </a:solidFill>
              </a:rPr>
              <a:t>2  EXPLAIN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AE4C-871D-4CFF-9798-1736E9BE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83B23"/>
                </a:solidFill>
              </a:defRPr>
            </a:pPr>
            <a:r>
              <a:rPr sz="1350" b="0" i="0">
                <a:solidFill>
                  <a:srgbClr val="183B23"/>
                </a:solidFill>
              </a:rPr>
              <a:t>Show how the observation leads directly to a specific improvement.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D1307-D7AD-4657-8327-36830C45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76675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83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3AAF1-B4D7-47B4-B6C8-81CFD709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FF4BA"/>
                </a:solidFill>
              </a:defRPr>
            </a:pPr>
            <a:r>
              <a:rPr sz="1050" b="1" i="0">
                <a:solidFill>
                  <a:srgbClr val="FFF4BA"/>
                </a:solidFill>
              </a:rPr>
              <a:t>3 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35800E-21EC-4922-AAFD-7DB1945D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8150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Include audience, purpose, organisation, evidence and improvement without naming platform controls.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681DA-0E29-4CBF-BD43-9C36DE2C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B6402D"/>
                </a:solidFill>
              </a:defRPr>
            </a:pPr>
            <a:r>
              <a:rPr sz="1350" b="1" i="0">
                <a:solidFill>
                  <a:srgbClr val="B6402D"/>
                </a:solidFill>
              </a:rPr>
              <a:t>Sentence starter: My communication tool is for… Its purpose is… Evidence showed… so I would improve…</a:t>
            </a:r>
          </a:p>
        </p:txBody>
      </p:sp>
    </p:spTree>
    <p:extLst>
      <p:ext uri="{BB962C8B-B14F-4D97-AF65-F5344CB8AC3E}">
        <p14:creationId xmlns:p14="http://schemas.microsoft.com/office/powerpoint/2010/main" val="1020404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B640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3DB27-1EEA-4170-8029-FCF41A82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C45FC-90F6-4D59-B0EF-B8BED698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6402D"/>
                </a:solidFill>
              </a:defRPr>
            </a:pPr>
            <a:r>
              <a:rPr sz="1050" b="1" i="0">
                <a:solidFill>
                  <a:srgbClr val="B6402D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1EBD5-00BC-4BB1-ADE5-C1A05FE7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F685F"/>
                </a:solidFill>
              </a:defRPr>
            </a:pPr>
            <a:r>
              <a:rPr sz="975" b="1" i="0">
                <a:solidFill>
                  <a:srgbClr val="5F685F"/>
                </a:solidFill>
              </a:rPr>
              <a:t>MODULE 5  •  EVALUATE AND 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B0B69-7614-4F3D-AAB4-300A1B8C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B6402D"/>
                </a:solidFill>
              </a:defRPr>
            </a:pPr>
            <a:r>
              <a:rPr sz="975" b="1" i="0">
                <a:solidFill>
                  <a:srgbClr val="B6402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D295F-DAF6-4E83-9490-1D065B44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7C4F4-AFD6-436F-8CDE-FBD5A2DF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7AFC7-3767-4FA1-8CFF-B1334A87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1. One difference between fibre and water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D77DA-8B4D-475F-B45D-A85C47F2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13384-CB3E-49C5-BC1B-324580FD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2. One Carbonara dependency I will plan carefully is…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C6D95-8311-45FC-B62F-8935B171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857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2B4722-C001-4C28-9D0D-38B71C27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3B23"/>
                </a:solidFill>
              </a:defRPr>
            </a:pPr>
            <a:r>
              <a:rPr sz="1875" b="1" i="0">
                <a:solidFill>
                  <a:srgbClr val="183B23"/>
                </a:solidFill>
              </a:rPr>
              <a:t>3. One piece of usability evidence I will collect is…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BC96C-4000-451A-AA1D-6B492E7B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52659-1B74-4310-8587-7403094C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123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SAVE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YOUR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83B23"/>
                </a:solidFill>
              </a:defRPr>
            </a:pPr>
            <a:r>
              <a:rPr sz="1800" b="1" i="0">
                <a:solidFill>
                  <a:srgbClr val="183B23"/>
                </a:solidFill>
              </a:rP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125867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2026-08-18T02:27:17.9880000Z</dcterms:created>
  <dcterms:modified xsi:type="dcterms:W3CDTF">2026-08-18T02:27:17.9880000Z</dcterms:modified>
</coreProperties>
</file>